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DM Sans Medium"/>
      <p:regular r:id="rId24"/>
      <p:bold r:id="rId25"/>
      <p:italic r:id="rId26"/>
      <p:boldItalic r:id="rId27"/>
    </p:embeddedFont>
    <p:embeddedFont>
      <p:font typeface="Domine"/>
      <p:regular r:id="rId28"/>
      <p:bold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MSansMedium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Medium-italic.fntdata"/><Relationship Id="rId25" Type="http://schemas.openxmlformats.org/officeDocument/2006/relationships/font" Target="fonts/DMSansMedium-bold.fntdata"/><Relationship Id="rId28" Type="http://schemas.openxmlformats.org/officeDocument/2006/relationships/font" Target="fonts/Domine-regular.fntdata"/><Relationship Id="rId27" Type="http://schemas.openxmlformats.org/officeDocument/2006/relationships/font" Target="fonts/DMSans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omin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7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6.xml"/><Relationship Id="rId32" Type="http://schemas.openxmlformats.org/officeDocument/2006/relationships/font" Target="fonts/DM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d6fdf896a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d6fdf896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bcaf2e7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ebcaf2e7a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bcaf2e7a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ebcaf2e7a9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bcaf2e7a9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bcaf2e7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bcaf2e7a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bcaf2e7a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c636c3140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c636c314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d6fdf896a_6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ed6fdf896a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bf9b596f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bf9b596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bf9b596f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bf9b596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d6fdf896a_6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d6fdf896a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d9eda4e5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ed9eda4e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d9eda4e5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d9eda4e5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30" name="Google Shape;30;p4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35" name="Google Shape;35;p4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39" name="Google Shape;39;p4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40" name="Google Shape;40;p4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4" name="Google Shape;44;p4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6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6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7" name="Google Shape;77;p9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0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00" name="Google Shape;100;p12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cxnSp>
        <p:nvCxnSpPr>
          <p:cNvPr id="11" name="Google Shape;11;p1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2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jpg"/><Relationship Id="rId5" Type="http://schemas.openxmlformats.org/officeDocument/2006/relationships/image" Target="../media/image24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06" name="Google Shape;106;p13" title="1250635470-ssebastian-3854.jpg"/>
          <p:cNvPicPr preferRelativeResize="0"/>
          <p:nvPr/>
        </p:nvPicPr>
        <p:blipFill rotWithShape="1">
          <a:blip r:embed="rId4">
            <a:alphaModFix/>
          </a:blip>
          <a:srcRect b="0" l="12659" r="12659" t="0"/>
          <a:stretch/>
        </p:blipFill>
        <p:spPr>
          <a:xfrm>
            <a:off x="4800683" y="-3"/>
            <a:ext cx="7704667" cy="6877878"/>
          </a:xfrm>
          <a:custGeom>
            <a:rect b="b" l="l" r="r" t="t"/>
            <a:pathLst>
              <a:path extrusionOk="0" h="6877878" w="7704667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0" y="0"/>
            <a:ext cx="7475746" cy="6858000"/>
          </a:xfrm>
          <a:custGeom>
            <a:rect b="b" l="l" r="r" t="t"/>
            <a:pathLst>
              <a:path extrusionOk="0" h="6858000" w="7475746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153" y="0"/>
            <a:ext cx="7283242" cy="6858000"/>
          </a:xfrm>
          <a:custGeom>
            <a:rect b="b" l="l" r="r" t="t"/>
            <a:pathLst>
              <a:path extrusionOk="0" h="6858000" w="7163694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3"/>
          <p:cNvSpPr txBox="1"/>
          <p:nvPr>
            <p:ph type="ctrTitle"/>
          </p:nvPr>
        </p:nvSpPr>
        <p:spPr>
          <a:xfrm>
            <a:off x="111675" y="264225"/>
            <a:ext cx="6177900" cy="18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CL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 13: CONVIDATA</a:t>
            </a:r>
            <a:endParaRPr sz="3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429442" y="2913358"/>
            <a:ext cx="4162357" cy="3542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fontScale="400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Integrantes: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Osvaldo Octavio Caraccioli Cisterna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Rodrigo Bastián Flores Peralta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Benjamín Alejandro Orellana Romero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Isaías Abel Ortiz Castro 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Maximiliano Thomas Soto Garrido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Matías Ignacio Urria Ibarra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929"/>
              <a:buFont typeface="Arial"/>
              <a:buNone/>
            </a:pP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Vicente Ignacio Vera Pereira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78338"/>
              <a:buNone/>
            </a:pPr>
            <a:r>
              <a:t/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97924"/>
              <a:buNone/>
            </a:pP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Profesor</a:t>
            </a:r>
            <a:r>
              <a:rPr lang="es-CL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i="0" lang="es-CL" sz="305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Paulo Luis Francisco Quinsacara Jofré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br>
              <a:rPr lang="es-CL"/>
            </a:b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3100" y="2537275"/>
            <a:ext cx="1803325" cy="18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6">
            <a:alphaModFix/>
          </a:blip>
          <a:srcRect b="14733" l="13642" r="7138" t="22414"/>
          <a:stretch/>
        </p:blipFill>
        <p:spPr>
          <a:xfrm>
            <a:off x="9652000" y="111500"/>
            <a:ext cx="2529725" cy="10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55" y="-14350"/>
            <a:ext cx="12191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5937925" y="1146286"/>
            <a:ext cx="56241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6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Contexto</a:t>
            </a: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/>
          </a:p>
        </p:txBody>
      </p:sp>
      <p:sp>
        <p:nvSpPr>
          <p:cNvPr id="128" name="Google Shape;128;p14"/>
          <p:cNvSpPr/>
          <p:nvPr/>
        </p:nvSpPr>
        <p:spPr>
          <a:xfrm>
            <a:off x="587555" y="993913"/>
            <a:ext cx="5224848" cy="4884295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3293" y="1074738"/>
            <a:ext cx="4906732" cy="467981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477837" y="850790"/>
            <a:ext cx="5407926" cy="5136542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3400" y="1939125"/>
            <a:ext cx="2536425" cy="2536425"/>
          </a:xfrm>
          <a:prstGeom prst="rect">
            <a:avLst/>
          </a:prstGeom>
          <a:noFill/>
          <a:ln cap="flat" cmpd="sng" w="9525">
            <a:solidFill>
              <a:srgbClr val="6E171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niversidad Andrés Bello - Red Campus Sustentable"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>
            <p:ph type="title"/>
          </p:nvPr>
        </p:nvSpPr>
        <p:spPr>
          <a:xfrm>
            <a:off x="6006300" y="2332000"/>
            <a:ext cx="5624100" cy="28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-CL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este proyecto se desarrollará un sistema de registro y almacenamiento de datos de convivencia escolar para el Colegio San Sebastián de Melipilla. La propuesta surge debido a la falta de digitalización de las anotaciones, lo que genera pérdida de tiempo y dificulta la gestión de la información. Este sistema permitirá optimizar el registro, consulta y seguimiento de los casos de convivencia escolar.</a:t>
            </a:r>
            <a:endParaRPr sz="134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1920240" y="442220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I</a:t>
            </a:r>
            <a:r>
              <a:rPr lang="es-CL" sz="4200"/>
              <a:t>ntroducción</a:t>
            </a:r>
            <a:endParaRPr sz="4200"/>
          </a:p>
        </p:txBody>
      </p:sp>
      <p:grpSp>
        <p:nvGrpSpPr>
          <p:cNvPr id="139" name="Google Shape;139;p15"/>
          <p:cNvGrpSpPr/>
          <p:nvPr/>
        </p:nvGrpSpPr>
        <p:grpSpPr>
          <a:xfrm>
            <a:off x="6367125" y="2026594"/>
            <a:ext cx="4286400" cy="3680400"/>
            <a:chOff x="2428800" y="736800"/>
            <a:chExt cx="4286400" cy="3680400"/>
          </a:xfrm>
        </p:grpSpPr>
        <p:sp>
          <p:nvSpPr>
            <p:cNvPr id="140" name="Google Shape;14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41" name="Google Shape;14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" name="Google Shape;14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48" name="Google Shape;14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Progreso para el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incremento</a:t>
              </a: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 1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25 Requerimiento </a:t>
              </a: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Usuario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50" name="Google Shape;15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27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 rot="10800000">
              <a:off x="2592159" y="387870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 rot="10800000">
              <a:off x="2670597" y="387881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44 Diagrama de secuencia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58" name="Google Shape;158;p15"/>
          <p:cNvSpPr/>
          <p:nvPr/>
        </p:nvSpPr>
        <p:spPr>
          <a:xfrm>
            <a:off x="6025600" y="2092100"/>
            <a:ext cx="4668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1920250" y="2037709"/>
            <a:ext cx="4286400" cy="3680400"/>
            <a:chOff x="2428800" y="736800"/>
            <a:chExt cx="4286400" cy="3680400"/>
          </a:xfrm>
        </p:grpSpPr>
        <p:sp>
          <p:nvSpPr>
            <p:cNvPr id="160" name="Google Shape;160;p15"/>
            <p:cNvSpPr/>
            <p:nvPr/>
          </p:nvSpPr>
          <p:spPr>
            <a:xfrm>
              <a:off x="2428800" y="736800"/>
              <a:ext cx="4286400" cy="3680400"/>
            </a:xfrm>
            <a:prstGeom prst="rect">
              <a:avLst/>
            </a:prstGeom>
            <a:solidFill>
              <a:srgbClr val="EEEB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61" name="Google Shape;161;p15"/>
            <p:cNvCxnSpPr/>
            <p:nvPr/>
          </p:nvCxnSpPr>
          <p:spPr>
            <a:xfrm>
              <a:off x="2669250" y="2246744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15"/>
            <p:cNvCxnSpPr/>
            <p:nvPr/>
          </p:nvCxnSpPr>
          <p:spPr>
            <a:xfrm>
              <a:off x="2669250" y="1562531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" name="Google Shape;163;p15"/>
            <p:cNvSpPr txBox="1"/>
            <p:nvPr/>
          </p:nvSpPr>
          <p:spPr>
            <a:xfrm>
              <a:off x="2914350" y="1713838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Funcionales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 rot="10800000">
              <a:off x="2592159" y="182613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10800000">
              <a:off x="2670597" y="182623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 rot="10800000">
              <a:off x="2592159" y="2510281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 rot="10800000">
              <a:off x="2670597" y="2510388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2914350" y="102962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1600">
                  <a:solidFill>
                    <a:srgbClr val="783F04"/>
                  </a:solidFill>
                  <a:latin typeface="DM Sans"/>
                  <a:ea typeface="DM Sans"/>
                  <a:cs typeface="DM Sans"/>
                  <a:sym typeface="DM Sans"/>
                </a:rPr>
                <a:t>Total definido para el proyecto</a:t>
              </a:r>
              <a:endParaRPr b="1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2914350" y="2398050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70 Requerimientos UR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>
              <a:off x="2669250" y="3615169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5"/>
            <p:cNvCxnSpPr/>
            <p:nvPr/>
          </p:nvCxnSpPr>
          <p:spPr>
            <a:xfrm>
              <a:off x="2669250" y="2930956"/>
              <a:ext cx="3805500" cy="0"/>
            </a:xfrm>
            <a:prstGeom prst="straightConnector1">
              <a:avLst/>
            </a:prstGeom>
            <a:noFill/>
            <a:ln cap="flat" cmpd="sng" w="9525">
              <a:solidFill>
                <a:srgbClr val="783F0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" name="Google Shape;172;p15"/>
            <p:cNvSpPr txBox="1"/>
            <p:nvPr/>
          </p:nvSpPr>
          <p:spPr>
            <a:xfrm>
              <a:off x="2914350" y="3082263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>
                  <a:solidFill>
                    <a:srgbClr val="783F04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74 Casos de uso</a:t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10800000">
              <a:off x="2592159" y="3194556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34343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10800000">
              <a:off x="2670597" y="3194663"/>
              <a:ext cx="156900" cy="156900"/>
            </a:xfrm>
            <a:prstGeom prst="pie">
              <a:avLst>
                <a:gd fmla="val 5400368" name="adj1"/>
                <a:gd fmla="val 16200000" name="adj2"/>
              </a:avLst>
            </a:prstGeom>
            <a:solidFill>
              <a:srgbClr val="6E17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402145"/>
                </a:solidFill>
                <a:latin typeface="Domine"/>
                <a:ea typeface="Domine"/>
                <a:cs typeface="Domine"/>
                <a:sym typeface="Domine"/>
              </a:endParaRPr>
            </a:p>
          </p:txBody>
        </p:sp>
        <p:sp>
          <p:nvSpPr>
            <p:cNvPr id="175" name="Google Shape;175;p15"/>
            <p:cNvSpPr txBox="1"/>
            <p:nvPr/>
          </p:nvSpPr>
          <p:spPr>
            <a:xfrm>
              <a:off x="2914350" y="3766475"/>
              <a:ext cx="3560400" cy="38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783F04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176" name="Google Shape;176;p15"/>
          <p:cNvSpPr txBox="1"/>
          <p:nvPr/>
        </p:nvSpPr>
        <p:spPr>
          <a:xfrm>
            <a:off x="5039100" y="5707000"/>
            <a:ext cx="21138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rgbClr val="783F04"/>
                </a:solidFill>
                <a:latin typeface="DM Sans"/>
                <a:ea typeface="DM Sans"/>
                <a:cs typeface="DM Sans"/>
                <a:sym typeface="DM Sans"/>
              </a:rPr>
              <a:t>Avance total: 36,1%</a:t>
            </a:r>
            <a:endParaRPr b="1" sz="1600">
              <a:solidFill>
                <a:srgbClr val="783F0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RF37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600">
                <a:solidFill>
                  <a:schemeClr val="dk1"/>
                </a:solidFill>
              </a:rPr>
              <a:t>RF-37)</a:t>
            </a:r>
            <a:r>
              <a:rPr lang="es-CL" sz="1600">
                <a:solidFill>
                  <a:schemeClr val="dk1"/>
                </a:solidFill>
              </a:rPr>
              <a:t> El sistema debe registrar un nuevo caso cuando el usuario complete el formulario de crear caso, ingresando título, descripción, tipo de falta, lugar y fecha, con la posibilidad de adjuntar archivos mediante el botón "Adjuntar".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6" name="Google Shape;1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8325" y="2478500"/>
            <a:ext cx="6475675" cy="41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3075" y="2478500"/>
            <a:ext cx="5040874" cy="4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type="title"/>
          </p:nvPr>
        </p:nvSpPr>
        <p:spPr>
          <a:xfrm>
            <a:off x="1561400" y="339851"/>
            <a:ext cx="8770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RF43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iversidad Andrés Bello - Red Campus Sustentable" id="193" name="Google Shape;1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2425" y="12005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9450" y="1957850"/>
            <a:ext cx="9044385" cy="7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223075" y="1588113"/>
            <a:ext cx="1160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600">
                <a:solidFill>
                  <a:schemeClr val="dk1"/>
                </a:solidFill>
              </a:rPr>
              <a:t>RF-43)</a:t>
            </a:r>
            <a:r>
              <a:rPr lang="es-CL" sz="1600">
                <a:solidFill>
                  <a:schemeClr val="dk1"/>
                </a:solidFill>
              </a:rPr>
              <a:t> El sistema debe mostrar al Administrador, Inspector, y Convivencia un listado con el historial de casos ordenado del más reciente al más antiguo.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6">
            <a:alphaModFix/>
          </a:blip>
          <a:srcRect b="0" l="920" r="-920" t="0"/>
          <a:stretch/>
        </p:blipFill>
        <p:spPr>
          <a:xfrm>
            <a:off x="5288350" y="2514325"/>
            <a:ext cx="6789900" cy="39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7463" y="2767025"/>
            <a:ext cx="694850" cy="60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4325" y="2478500"/>
            <a:ext cx="4552100" cy="394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1920241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>
            <p:ph idx="2" type="body"/>
          </p:nvPr>
        </p:nvSpPr>
        <p:spPr>
          <a:xfrm>
            <a:off x="1920241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 txBox="1"/>
          <p:nvPr>
            <p:ph idx="3" type="body"/>
          </p:nvPr>
        </p:nvSpPr>
        <p:spPr>
          <a:xfrm>
            <a:off x="6530290" y="2456408"/>
            <a:ext cx="4160400" cy="823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>
            <p:ph idx="4" type="body"/>
          </p:nvPr>
        </p:nvSpPr>
        <p:spPr>
          <a:xfrm>
            <a:off x="6530290" y="3316639"/>
            <a:ext cx="4160400" cy="27795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 txBox="1"/>
          <p:nvPr>
            <p:ph type="title"/>
          </p:nvPr>
        </p:nvSpPr>
        <p:spPr>
          <a:xfrm>
            <a:off x="1827200" y="274725"/>
            <a:ext cx="8770500" cy="10653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CU40</a:t>
            </a:r>
            <a:endParaRPr sz="4200"/>
          </a:p>
        </p:txBody>
      </p:sp>
      <p:pic>
        <p:nvPicPr>
          <p:cNvPr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50" y="1600500"/>
            <a:ext cx="10776876" cy="49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1" name="Google Shape;2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/>
          <p:nvPr>
            <p:ph type="title"/>
          </p:nvPr>
        </p:nvSpPr>
        <p:spPr>
          <a:xfrm>
            <a:off x="1873715" y="209595"/>
            <a:ext cx="8770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Diagrama de secuencia CU46</a:t>
            </a:r>
            <a:endParaRPr sz="4200"/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707195"/>
            <a:ext cx="11887198" cy="498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"/>
          <p:cNvSpPr txBox="1"/>
          <p:nvPr>
            <p:ph type="title"/>
          </p:nvPr>
        </p:nvSpPr>
        <p:spPr>
          <a:xfrm>
            <a:off x="2121490" y="155286"/>
            <a:ext cx="8770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Componentes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26" name="Google Shape;2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3951" y="1831925"/>
            <a:ext cx="8882674" cy="6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25" y="838750"/>
            <a:ext cx="10223501" cy="58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1910408" y="399094"/>
            <a:ext cx="8770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Diagrama de Despliegue</a:t>
            </a:r>
            <a:endParaRPr sz="4200"/>
          </a:p>
        </p:txBody>
      </p:sp>
      <p:pic>
        <p:nvPicPr>
          <p:cNvPr descr="Universidad Andrés Bello - Red Campus Sustentable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title="Captura de pantalla (5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5053" y="1291775"/>
            <a:ext cx="5661199" cy="539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1985983" y="179137"/>
            <a:ext cx="76443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Modelo Físico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title="erdbd.jpg"/>
          <p:cNvPicPr preferRelativeResize="0"/>
          <p:nvPr/>
        </p:nvPicPr>
        <p:blipFill rotWithShape="1">
          <a:blip r:embed="rId5">
            <a:alphaModFix/>
          </a:blip>
          <a:srcRect b="15598" l="0" r="0" t="0"/>
          <a:stretch/>
        </p:blipFill>
        <p:spPr>
          <a:xfrm>
            <a:off x="1049100" y="838750"/>
            <a:ext cx="9933860" cy="57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6369700" y="500712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260925" y="2387975"/>
            <a:ext cx="319800" cy="371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1868075" y="2040600"/>
            <a:ext cx="8822700" cy="244500"/>
          </a:xfrm>
          <a:prstGeom prst="rect">
            <a:avLst/>
          </a:prstGeom>
          <a:solidFill>
            <a:srgbClr val="EE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625" y="241375"/>
            <a:ext cx="5319225" cy="638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625" y="241375"/>
            <a:ext cx="4359400" cy="65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1698600" y="523320"/>
            <a:ext cx="87705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556"/>
              <a:buFont typeface="Meiryo"/>
              <a:buNone/>
            </a:pPr>
            <a:r>
              <a:rPr lang="es-CL" sz="4200">
                <a:latin typeface="Times New Roman"/>
                <a:ea typeface="Times New Roman"/>
                <a:cs typeface="Times New Roman"/>
                <a:sym typeface="Times New Roman"/>
              </a:rPr>
              <a:t>Árbol de navegación</a:t>
            </a:r>
            <a:endParaRPr sz="4200"/>
          </a:p>
        </p:txBody>
      </p:sp>
      <p:pic>
        <p:nvPicPr>
          <p:cNvPr descr="Universidad Andrés Bello - Red Campus Sustentable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5073" y="1"/>
            <a:ext cx="1068978" cy="9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 title="Diagrama sin título (2)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3325" y="1394350"/>
            <a:ext cx="8922576" cy="52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/>
          <p:nvPr/>
        </p:nvSpPr>
        <p:spPr>
          <a:xfrm>
            <a:off x="4816825" y="4593875"/>
            <a:ext cx="185100" cy="333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" name="Google Shape;266;p24"/>
          <p:cNvSpPr/>
          <p:nvPr/>
        </p:nvSpPr>
        <p:spPr>
          <a:xfrm rot="2301321">
            <a:off x="7066730" y="4667322"/>
            <a:ext cx="185162" cy="3329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754425" y="4335025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RF37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7167150" y="4497300"/>
            <a:ext cx="3900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RF43</a:t>
            </a:r>
            <a:endParaRPr sz="6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type="title"/>
          </p:nvPr>
        </p:nvSpPr>
        <p:spPr>
          <a:xfrm>
            <a:off x="1920250" y="538075"/>
            <a:ext cx="6780300" cy="7134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Vista </a:t>
            </a:r>
            <a:r>
              <a:rPr lang="es-CL" sz="4200"/>
              <a:t>Registrar un caso</a:t>
            </a:r>
            <a:endParaRPr sz="4200"/>
          </a:p>
        </p:txBody>
      </p:sp>
      <p:sp>
        <p:nvSpPr>
          <p:cNvPr id="274" name="Google Shape;274;p25"/>
          <p:cNvSpPr txBox="1"/>
          <p:nvPr>
            <p:ph idx="1" type="body"/>
          </p:nvPr>
        </p:nvSpPr>
        <p:spPr>
          <a:xfrm>
            <a:off x="1920240" y="2312276"/>
            <a:ext cx="8770500" cy="3651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149" y="1549149"/>
            <a:ext cx="10819710" cy="498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1070100" y="218925"/>
            <a:ext cx="8770500" cy="1000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  </a:t>
            </a:r>
            <a:r>
              <a:rPr lang="es-CL" sz="4200"/>
              <a:t>Vista Prueba de registrar caso</a:t>
            </a:r>
            <a:endParaRPr sz="4200"/>
          </a:p>
        </p:txBody>
      </p:sp>
      <p:pic>
        <p:nvPicPr>
          <p:cNvPr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84" name="Google Shape;2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162" y="1740075"/>
            <a:ext cx="10627676" cy="48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1136225" y="249376"/>
            <a:ext cx="8770500" cy="9045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Selección</a:t>
            </a:r>
            <a:r>
              <a:rPr lang="es-CL" sz="4200"/>
              <a:t> historial casos</a:t>
            </a:r>
            <a:endParaRPr sz="4200"/>
          </a:p>
        </p:txBody>
      </p:sp>
      <p:pic>
        <p:nvPicPr>
          <p:cNvPr id="291" name="Google Shape;2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6" y="1380350"/>
            <a:ext cx="10465549" cy="47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293" name="Google Shape;29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"/>
          <p:cNvSpPr txBox="1"/>
          <p:nvPr>
            <p:ph type="title"/>
          </p:nvPr>
        </p:nvSpPr>
        <p:spPr>
          <a:xfrm>
            <a:off x="1173650" y="277297"/>
            <a:ext cx="8770500" cy="637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4200"/>
              <a:t>Resultado</a:t>
            </a:r>
            <a:endParaRPr sz="4200"/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650" y="1245700"/>
            <a:ext cx="10195651" cy="498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1" name="Google Shape;30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>
            <p:ph type="title"/>
          </p:nvPr>
        </p:nvSpPr>
        <p:spPr>
          <a:xfrm>
            <a:off x="1939775" y="458472"/>
            <a:ext cx="8770500" cy="577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200"/>
              <a:t>Scrum++: Backlog</a:t>
            </a:r>
            <a:endParaRPr sz="4200"/>
          </a:p>
        </p:txBody>
      </p:sp>
      <p:pic>
        <p:nvPicPr>
          <p:cNvPr id="308" name="Google Shape;30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09" name="Google Shape;3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900" y="1103225"/>
            <a:ext cx="11607626" cy="55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175" y="1844000"/>
            <a:ext cx="974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837375" y="608097"/>
            <a:ext cx="8770500" cy="6288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CL" sz="4200"/>
              <a:t>Gráficos de esfuerzo </a:t>
            </a:r>
            <a:endParaRPr sz="4200"/>
          </a:p>
        </p:txBody>
      </p:sp>
      <p:pic>
        <p:nvPicPr>
          <p:cNvPr id="317" name="Google Shape;31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18" name="Google Shape;31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50" y="1630000"/>
            <a:ext cx="5948375" cy="460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8575" y="1630000"/>
            <a:ext cx="5839276" cy="460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4" name="Google Shape;334;p31"/>
          <p:cNvSpPr txBox="1"/>
          <p:nvPr>
            <p:ph type="title"/>
          </p:nvPr>
        </p:nvSpPr>
        <p:spPr>
          <a:xfrm>
            <a:off x="116100" y="2613762"/>
            <a:ext cx="67797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900"/>
              <a:buFont typeface="Times New Roman"/>
              <a:buNone/>
            </a:pPr>
            <a:r>
              <a:rPr lang="es-CL" sz="42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continuación una demostración</a:t>
            </a:r>
            <a:endParaRPr sz="4200"/>
          </a:p>
        </p:txBody>
      </p:sp>
      <p:sp>
        <p:nvSpPr>
          <p:cNvPr id="335" name="Google Shape;335;p31"/>
          <p:cNvSpPr/>
          <p:nvPr/>
        </p:nvSpPr>
        <p:spPr>
          <a:xfrm flipH="1">
            <a:off x="6986049" y="0"/>
            <a:ext cx="5205951" cy="6858000"/>
          </a:xfrm>
          <a:custGeom>
            <a:rect b="b" l="l" r="r" t="t"/>
            <a:pathLst>
              <a:path extrusionOk="0" h="6858000" w="5205951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" name="Google Shape;336;p31"/>
          <p:cNvSpPr/>
          <p:nvPr/>
        </p:nvSpPr>
        <p:spPr>
          <a:xfrm flipH="1">
            <a:off x="6553480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7" name="Google Shape;337;p31"/>
          <p:cNvSpPr/>
          <p:nvPr/>
        </p:nvSpPr>
        <p:spPr>
          <a:xfrm flipH="1">
            <a:off x="6758825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5050" y="1966963"/>
            <a:ext cx="2924075" cy="292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dad Andrés Bello - Red Campus Sustentable" id="339" name="Google Shape;3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6125" y="0"/>
            <a:ext cx="995875" cy="83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850" y="146050"/>
            <a:ext cx="786775" cy="7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