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DM Sans Medium"/>
      <p:regular r:id="rId21"/>
      <p:bold r:id="rId22"/>
      <p:italic r:id="rId23"/>
      <p:boldItalic r:id="rId24"/>
    </p:embeddedFont>
    <p:embeddedFont>
      <p:font typeface="Domine"/>
      <p:regular r:id="rId25"/>
      <p:bold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DMSansMedium-bold.fntdata"/><Relationship Id="rId21" Type="http://schemas.openxmlformats.org/officeDocument/2006/relationships/font" Target="fonts/DMSansMedium-regular.fntdata"/><Relationship Id="rId24" Type="http://schemas.openxmlformats.org/officeDocument/2006/relationships/font" Target="fonts/DMSansMedium-boldItalic.fntdata"/><Relationship Id="rId23" Type="http://schemas.openxmlformats.org/officeDocument/2006/relationships/font" Target="fonts/DMSansMedium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omine-bold.fntdata"/><Relationship Id="rId25" Type="http://schemas.openxmlformats.org/officeDocument/2006/relationships/font" Target="fonts/Domine-regular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DM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d6fdf896a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d6fdf896a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bcaf2e7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ebcaf2e7a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bcaf2e7a9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bcaf2e7a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bcaf2e7a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ebcaf2e7a9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bcaf2e7a9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bcaf2e7a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d6fdf896a_6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ed6fdf896a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bf9b596f1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ebf9b596f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bf9b596f1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ebf9b596f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d6fdf896a_6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ed6fdf896a_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4654295" y="1346268"/>
            <a:ext cx="7060135" cy="328520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Meiryo"/>
              <a:buNone/>
              <a:defRPr sz="54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662312" y="4631475"/>
            <a:ext cx="7052117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>
                <a:solidFill>
                  <a:srgbClr val="262626"/>
                </a:solidFill>
              </a:defRPr>
            </a:lvl1pPr>
            <a:lvl2pPr lvl="1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6pPr>
            <a:lvl7pPr lvl="6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7pPr>
            <a:lvl8pPr lvl="7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8pPr>
            <a:lvl9pPr lvl="8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4654295" y="617415"/>
            <a:ext cx="71237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654295" y="6170490"/>
            <a:ext cx="55883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0515600" y="6170490"/>
            <a:ext cx="119882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30" name="Google Shape;30;p4"/>
            <p:cNvSpPr/>
            <p:nvPr/>
          </p:nvSpPr>
          <p:spPr>
            <a:xfrm>
              <a:off x="3320637" y="0"/>
              <a:ext cx="4013331" cy="2742133"/>
            </a:xfrm>
            <a:custGeom>
              <a:rect b="b" l="l" r="r" t="t"/>
              <a:pathLst>
                <a:path extrusionOk="0" h="2742133" w="4013331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3566319" y="0"/>
              <a:ext cx="3401415" cy="2440484"/>
            </a:xfrm>
            <a:custGeom>
              <a:rect b="b" l="l" r="r" t="t"/>
              <a:pathLst>
                <a:path extrusionOk="0" h="2440484" w="3401415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3232490" y="0"/>
              <a:ext cx="4164597" cy="2817185"/>
            </a:xfrm>
            <a:custGeom>
              <a:rect b="b" l="l" r="r" t="t"/>
              <a:pathLst>
                <a:path extrusionOk="0" h="2806419" w="4130517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3124577" y="0"/>
              <a:ext cx="4389519" cy="2916937"/>
            </a:xfrm>
            <a:custGeom>
              <a:rect b="b" l="l" r="r" t="t"/>
              <a:pathLst>
                <a:path extrusionOk="0" h="2916937" w="4389519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34" name="Google Shape;34;p4"/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35" name="Google Shape;35;p4"/>
            <p:cNvSpPr/>
            <p:nvPr/>
          </p:nvSpPr>
          <p:spPr>
            <a:xfrm>
              <a:off x="8122942" y="0"/>
              <a:ext cx="4069058" cy="3547008"/>
            </a:xfrm>
            <a:custGeom>
              <a:rect b="b" l="l" r="r" t="t"/>
              <a:pathLst>
                <a:path extrusionOk="0" h="3547008" w="406905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 flipH="1">
              <a:off x="8319994" y="0"/>
              <a:ext cx="3872006" cy="3321595"/>
            </a:xfrm>
            <a:custGeom>
              <a:rect b="b" l="l" r="r" t="t"/>
              <a:pathLst>
                <a:path extrusionOk="0" h="3321595" w="3872006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flipH="1">
              <a:off x="8729240" y="9274"/>
              <a:ext cx="3462454" cy="3010961"/>
            </a:xfrm>
            <a:custGeom>
              <a:rect b="b" l="l" r="r" t="t"/>
              <a:pathLst>
                <a:path extrusionOk="0" h="3010961" w="3462454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 flipH="1">
              <a:off x="8243247" y="9274"/>
              <a:ext cx="3948447" cy="3411460"/>
            </a:xfrm>
            <a:custGeom>
              <a:rect b="b" l="l" r="r" t="t"/>
              <a:pathLst>
                <a:path extrusionOk="0" h="3411460" w="3904481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39" name="Google Shape;39;p4"/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40" name="Google Shape;40;p4"/>
            <p:cNvSpPr/>
            <p:nvPr/>
          </p:nvSpPr>
          <p:spPr>
            <a:xfrm>
              <a:off x="0" y="1676545"/>
              <a:ext cx="4174269" cy="5181455"/>
            </a:xfrm>
            <a:custGeom>
              <a:rect b="b" l="l" r="r" t="t"/>
              <a:pathLst>
                <a:path extrusionOk="0" h="5181455" w="4174269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0" y="1347287"/>
              <a:ext cx="4259808" cy="5510713"/>
            </a:xfrm>
            <a:custGeom>
              <a:rect b="b" l="l" r="r" t="t"/>
              <a:pathLst>
                <a:path extrusionOk="0" h="5510713" w="4259808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0" y="1592806"/>
              <a:ext cx="4029221" cy="5265194"/>
            </a:xfrm>
            <a:custGeom>
              <a:rect b="b" l="l" r="r" t="t"/>
              <a:pathLst>
                <a:path extrusionOk="0" h="5265194" w="4029221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0" y="2147333"/>
              <a:ext cx="3702048" cy="4710667"/>
            </a:xfrm>
            <a:custGeom>
              <a:rect b="b" l="l" r="r" t="t"/>
              <a:pathLst>
                <a:path extrusionOk="0" h="4710667" w="3702048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44" name="Google Shape;44;p4"/>
          <p:cNvSpPr txBox="1"/>
          <p:nvPr>
            <p:ph type="title"/>
          </p:nvPr>
        </p:nvSpPr>
        <p:spPr>
          <a:xfrm>
            <a:off x="4654296" y="3420734"/>
            <a:ext cx="6665976" cy="212967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eiryo"/>
              <a:buNone/>
              <a:defRPr sz="4800" cap="none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11" type="ftr"/>
          </p:nvPr>
        </p:nvSpPr>
        <p:spPr>
          <a:xfrm>
            <a:off x="4654296" y="6170490"/>
            <a:ext cx="57133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4654295" y="5550408"/>
            <a:ext cx="666597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0" type="dt"/>
          </p:nvPr>
        </p:nvSpPr>
        <p:spPr>
          <a:xfrm>
            <a:off x="640080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" type="body"/>
          </p:nvPr>
        </p:nvSpPr>
        <p:spPr>
          <a:xfrm>
            <a:off x="192024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2" type="body"/>
          </p:nvPr>
        </p:nvSpPr>
        <p:spPr>
          <a:xfrm>
            <a:off x="653029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>
            <p:ph idx="1" type="body"/>
          </p:nvPr>
        </p:nvSpPr>
        <p:spPr>
          <a:xfrm>
            <a:off x="1920241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6"/>
          <p:cNvSpPr txBox="1"/>
          <p:nvPr>
            <p:ph idx="2" type="body"/>
          </p:nvPr>
        </p:nvSpPr>
        <p:spPr>
          <a:xfrm>
            <a:off x="1920241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3" type="body"/>
          </p:nvPr>
        </p:nvSpPr>
        <p:spPr>
          <a:xfrm>
            <a:off x="6530290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6"/>
          <p:cNvSpPr txBox="1"/>
          <p:nvPr>
            <p:ph idx="4" type="body"/>
          </p:nvPr>
        </p:nvSpPr>
        <p:spPr>
          <a:xfrm>
            <a:off x="6530290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64" name="Google Shape;64;p6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bg>
      <p:bgPr>
        <a:solidFill>
          <a:schemeClr val="lt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8476488" y="640080"/>
            <a:ext cx="3227715" cy="25517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280160" y="640080"/>
            <a:ext cx="6949440" cy="54559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Char char="–"/>
              <a:defRPr sz="1600"/>
            </a:lvl3pPr>
            <a:lvl4pPr indent="-3175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5pPr>
            <a:lvl6pPr indent="-3175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6pPr>
            <a:lvl7pPr indent="-3175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7pPr>
            <a:lvl8pPr indent="-3175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8pPr>
            <a:lvl9pPr indent="-3175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9pPr>
          </a:lstStyle>
          <a:p/>
        </p:txBody>
      </p:sp>
      <p:sp>
        <p:nvSpPr>
          <p:cNvPr id="77" name="Google Shape;77;p9"/>
          <p:cNvSpPr txBox="1"/>
          <p:nvPr>
            <p:ph idx="2" type="body"/>
          </p:nvPr>
        </p:nvSpPr>
        <p:spPr>
          <a:xfrm>
            <a:off x="8476488" y="3223803"/>
            <a:ext cx="3227715" cy="28721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1280160" y="617049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>
            <p:ph idx="2" type="pic"/>
          </p:nvPr>
        </p:nvSpPr>
        <p:spPr>
          <a:xfrm>
            <a:off x="0" y="0"/>
            <a:ext cx="8102651" cy="6857999"/>
          </a:xfrm>
          <a:prstGeom prst="rect">
            <a:avLst/>
          </a:prstGeom>
          <a:solidFill>
            <a:srgbClr val="DCD6C4"/>
          </a:solidFill>
          <a:ln>
            <a:noFill/>
          </a:ln>
        </p:spPr>
      </p:sp>
      <p:sp>
        <p:nvSpPr>
          <p:cNvPr id="83" name="Google Shape;83;p10"/>
          <p:cNvSpPr txBox="1"/>
          <p:nvPr>
            <p:ph type="title"/>
          </p:nvPr>
        </p:nvSpPr>
        <p:spPr>
          <a:xfrm>
            <a:off x="8476488" y="1503910"/>
            <a:ext cx="3230625" cy="16879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" type="body"/>
          </p:nvPr>
        </p:nvSpPr>
        <p:spPr>
          <a:xfrm>
            <a:off x="8476488" y="3223806"/>
            <a:ext cx="3227832" cy="28721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10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1" type="ftr"/>
          </p:nvPr>
        </p:nvSpPr>
        <p:spPr>
          <a:xfrm>
            <a:off x="1280160" y="6170490"/>
            <a:ext cx="64644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body"/>
          </p:nvPr>
        </p:nvSpPr>
        <p:spPr>
          <a:xfrm rot="5400000">
            <a:off x="4479774" y="-247258"/>
            <a:ext cx="3651504" cy="87705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 rot="5400000">
            <a:off x="7393812" y="2391190"/>
            <a:ext cx="5339932" cy="157162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 rot="5400000">
            <a:off x="3252190" y="205883"/>
            <a:ext cx="5322596" cy="59595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0" type="dt"/>
          </p:nvPr>
        </p:nvSpPr>
        <p:spPr>
          <a:xfrm>
            <a:off x="9277965" y="6296615"/>
            <a:ext cx="25059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1" type="ftr"/>
          </p:nvPr>
        </p:nvSpPr>
        <p:spPr>
          <a:xfrm>
            <a:off x="2933699" y="6296615"/>
            <a:ext cx="5959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 rot="5400000">
            <a:off x="8734643" y="2853201"/>
            <a:ext cx="5383267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cxnSp>
        <p:nvCxnSpPr>
          <p:cNvPr id="100" name="Google Shape;100;p12" title="Rule Line"/>
          <p:cNvCxnSpPr/>
          <p:nvPr/>
        </p:nvCxnSpPr>
        <p:spPr>
          <a:xfrm>
            <a:off x="9111582" y="571502"/>
            <a:ext cx="0" cy="5275467"/>
          </a:xfrm>
          <a:prstGeom prst="straightConnector1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 b="1" i="0" sz="32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rbel"/>
              <a:buNone/>
              <a:defRPr b="0" i="0" sz="18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orbel"/>
              <a:buNone/>
              <a:defRPr b="0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17500" lvl="2" marL="13716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-317500" lvl="6" marL="32004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-317500" lvl="7" marL="36576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-317500" lvl="8" marL="41148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cxnSp>
        <p:nvCxnSpPr>
          <p:cNvPr id="11" name="Google Shape;11;p1" title="Rule Line"/>
          <p:cNvCxnSpPr/>
          <p:nvPr/>
        </p:nvCxnSpPr>
        <p:spPr>
          <a:xfrm>
            <a:off x="1920240" y="2176009"/>
            <a:ext cx="8770571" cy="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22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6.jp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06" name="Google Shape;106;p13" title="1250635470-ssebastian-3854.jpg"/>
          <p:cNvPicPr preferRelativeResize="0"/>
          <p:nvPr/>
        </p:nvPicPr>
        <p:blipFill rotWithShape="1">
          <a:blip r:embed="rId4">
            <a:alphaModFix/>
          </a:blip>
          <a:srcRect b="0" l="12659" r="12659" t="0"/>
          <a:stretch/>
        </p:blipFill>
        <p:spPr>
          <a:xfrm>
            <a:off x="4800683" y="-3"/>
            <a:ext cx="7704667" cy="6877878"/>
          </a:xfrm>
          <a:custGeom>
            <a:rect b="b" l="l" r="r" t="t"/>
            <a:pathLst>
              <a:path extrusionOk="0" h="6877878" w="7704667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7" name="Google Shape;107;p13"/>
          <p:cNvSpPr/>
          <p:nvPr/>
        </p:nvSpPr>
        <p:spPr>
          <a:xfrm>
            <a:off x="0" y="0"/>
            <a:ext cx="7475746" cy="6858000"/>
          </a:xfrm>
          <a:custGeom>
            <a:rect b="b" l="l" r="r" t="t"/>
            <a:pathLst>
              <a:path extrusionOk="0" h="6858000" w="7475746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153" y="0"/>
            <a:ext cx="7283242" cy="6858000"/>
          </a:xfrm>
          <a:custGeom>
            <a:rect b="b" l="l" r="r" t="t"/>
            <a:pathLst>
              <a:path extrusionOk="0" h="6858000" w="7163694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5198368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0" name="Google Shape;110;p13"/>
          <p:cNvSpPr txBox="1"/>
          <p:nvPr>
            <p:ph type="ctrTitle"/>
          </p:nvPr>
        </p:nvSpPr>
        <p:spPr>
          <a:xfrm>
            <a:off x="111675" y="264225"/>
            <a:ext cx="61779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s-CL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GRUPO 13: CONVIDATA</a:t>
            </a:r>
            <a:endParaRPr sz="3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429442" y="2913358"/>
            <a:ext cx="4162357" cy="35423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 fontScale="40000" lnSpcReduction="2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924"/>
              <a:buNone/>
            </a:pP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Integrantes: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Osvaldo Octavio Caraccioli Cisterna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Rodrigo Bastián Flores Peralta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Benjamín Alejandro Orellana Romero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Isaías Abel Ortiz Castro 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Maximiliano Thomas Soto Garrido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Matías Ignacio Urria Ibarra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Vicente Ignacio Vera Pereira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78338"/>
              <a:buNone/>
            </a:pPr>
            <a:r>
              <a:t/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97924"/>
              <a:buNone/>
            </a:pP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Profesor</a:t>
            </a: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Paulo Luis Francisco Quinsacara Jofré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br>
              <a:rPr lang="es-CL"/>
            </a:br>
            <a:endParaRPr/>
          </a:p>
        </p:txBody>
      </p:sp>
      <p:pic>
        <p:nvPicPr>
          <p:cNvPr id="112" name="Google Shape;11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3100" y="2537275"/>
            <a:ext cx="1803325" cy="18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/>
          <p:cNvPicPr preferRelativeResize="0"/>
          <p:nvPr/>
        </p:nvPicPr>
        <p:blipFill rotWithShape="1">
          <a:blip r:embed="rId6">
            <a:alphaModFix/>
          </a:blip>
          <a:srcRect b="14733" l="13642" r="7138" t="22414"/>
          <a:stretch/>
        </p:blipFill>
        <p:spPr>
          <a:xfrm>
            <a:off x="9652000" y="111500"/>
            <a:ext cx="2529725" cy="10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155" y="-14350"/>
            <a:ext cx="121917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7" name="Google Shape;127;p14"/>
          <p:cNvSpPr txBox="1"/>
          <p:nvPr>
            <p:ph type="title"/>
          </p:nvPr>
        </p:nvSpPr>
        <p:spPr>
          <a:xfrm>
            <a:off x="5937925" y="1146286"/>
            <a:ext cx="5624100" cy="10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600"/>
              <a:buFont typeface="Times New Roman"/>
              <a:buNone/>
            </a:pPr>
            <a:r>
              <a:rPr lang="es-CL" sz="4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Contexto</a:t>
            </a:r>
            <a:r>
              <a:rPr lang="es-CL" sz="4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/>
          </a:p>
        </p:txBody>
      </p:sp>
      <p:sp>
        <p:nvSpPr>
          <p:cNvPr id="128" name="Google Shape;128;p14"/>
          <p:cNvSpPr/>
          <p:nvPr/>
        </p:nvSpPr>
        <p:spPr>
          <a:xfrm>
            <a:off x="587555" y="993913"/>
            <a:ext cx="5224848" cy="4884295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783293" y="1074738"/>
            <a:ext cx="4906732" cy="4679812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477837" y="850790"/>
            <a:ext cx="5407926" cy="5136542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31" name="Google Shape;1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3400" y="1939125"/>
            <a:ext cx="2536425" cy="2536425"/>
          </a:xfrm>
          <a:prstGeom prst="rect">
            <a:avLst/>
          </a:prstGeom>
          <a:noFill/>
          <a:ln cap="flat" cmpd="sng" w="9525">
            <a:solidFill>
              <a:srgbClr val="6E171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Universidad Andrés Bello - Red Campus Sustentable" id="132" name="Google Shape;13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 txBox="1"/>
          <p:nvPr>
            <p:ph type="title"/>
          </p:nvPr>
        </p:nvSpPr>
        <p:spPr>
          <a:xfrm>
            <a:off x="6006300" y="2332000"/>
            <a:ext cx="5624100" cy="283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-CL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este proyecto se desarrollará un sistema de registro y almacenamiento de datos de convivencia escolar para el Colegio San Sebastián de Melipilla. La propuesta surge debido a la falta de digitalización de las anotaciones, lo que genera pérdida de tiempo y dificulta la gestión de la información. Este sistema permitirá optimizar el registro, consulta y seguimiento de los casos de convivencia escolar.</a:t>
            </a:r>
            <a:endParaRPr sz="134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1920240" y="442220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I</a:t>
            </a:r>
            <a:r>
              <a:rPr lang="es-CL" sz="4200"/>
              <a:t>ntroducción</a:t>
            </a:r>
            <a:endParaRPr sz="4200"/>
          </a:p>
        </p:txBody>
      </p:sp>
      <p:grpSp>
        <p:nvGrpSpPr>
          <p:cNvPr id="139" name="Google Shape;139;p15"/>
          <p:cNvGrpSpPr/>
          <p:nvPr/>
        </p:nvGrpSpPr>
        <p:grpSpPr>
          <a:xfrm>
            <a:off x="6367125" y="2026594"/>
            <a:ext cx="4286400" cy="3680400"/>
            <a:chOff x="2428800" y="736800"/>
            <a:chExt cx="4286400" cy="3680400"/>
          </a:xfrm>
        </p:grpSpPr>
        <p:sp>
          <p:nvSpPr>
            <p:cNvPr id="140" name="Google Shape;140;p15"/>
            <p:cNvSpPr/>
            <p:nvPr/>
          </p:nvSpPr>
          <p:spPr>
            <a:xfrm>
              <a:off x="2428800" y="736800"/>
              <a:ext cx="4286400" cy="3680400"/>
            </a:xfrm>
            <a:prstGeom prst="rect">
              <a:avLst/>
            </a:prstGeom>
            <a:solidFill>
              <a:srgbClr val="EEEB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141" name="Google Shape;141;p15"/>
            <p:cNvCxnSpPr/>
            <p:nvPr/>
          </p:nvCxnSpPr>
          <p:spPr>
            <a:xfrm>
              <a:off x="2669250" y="2246744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5"/>
            <p:cNvCxnSpPr/>
            <p:nvPr/>
          </p:nvCxnSpPr>
          <p:spPr>
            <a:xfrm>
              <a:off x="2669250" y="1562531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" name="Google Shape;143;p15"/>
            <p:cNvSpPr txBox="1"/>
            <p:nvPr/>
          </p:nvSpPr>
          <p:spPr>
            <a:xfrm>
              <a:off x="2914350" y="1713838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25 Requerimientos funcionales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 rot="10800000">
              <a:off x="2592159" y="182613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5" name="Google Shape;145;p15"/>
            <p:cNvSpPr/>
            <p:nvPr/>
          </p:nvSpPr>
          <p:spPr>
            <a:xfrm rot="10800000">
              <a:off x="2670597" y="182623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6" name="Google Shape;146;p15"/>
            <p:cNvSpPr/>
            <p:nvPr/>
          </p:nvSpPr>
          <p:spPr>
            <a:xfrm rot="10800000">
              <a:off x="2592159" y="251028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7" name="Google Shape;147;p15"/>
            <p:cNvSpPr/>
            <p:nvPr/>
          </p:nvSpPr>
          <p:spPr>
            <a:xfrm rot="10800000">
              <a:off x="2670597" y="251038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8" name="Google Shape;148;p15"/>
            <p:cNvSpPr txBox="1"/>
            <p:nvPr/>
          </p:nvSpPr>
          <p:spPr>
            <a:xfrm>
              <a:off x="2914350" y="102962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Progreso para el</a:t>
              </a: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incrementó</a:t>
              </a: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 1</a:t>
              </a:r>
              <a:endParaRPr b="1" sz="1600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2914350" y="2398050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25 Requerimiento </a:t>
              </a: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Usuario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cxnSp>
          <p:nvCxnSpPr>
            <p:cNvPr id="150" name="Google Shape;150;p15"/>
            <p:cNvCxnSpPr/>
            <p:nvPr/>
          </p:nvCxnSpPr>
          <p:spPr>
            <a:xfrm>
              <a:off x="2669250" y="3615169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15"/>
            <p:cNvCxnSpPr/>
            <p:nvPr/>
          </p:nvCxnSpPr>
          <p:spPr>
            <a:xfrm>
              <a:off x="2669250" y="2930956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" name="Google Shape;152;p15"/>
            <p:cNvSpPr txBox="1"/>
            <p:nvPr/>
          </p:nvSpPr>
          <p:spPr>
            <a:xfrm>
              <a:off x="2914350" y="3082263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27 Casos de uso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53" name="Google Shape;153;p15"/>
            <p:cNvSpPr/>
            <p:nvPr/>
          </p:nvSpPr>
          <p:spPr>
            <a:xfrm rot="10800000">
              <a:off x="2592159" y="319455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 rot="10800000">
              <a:off x="2670597" y="319466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 rot="10800000">
              <a:off x="2592159" y="387870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 rot="10800000">
              <a:off x="2670597" y="387881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2914350" y="376647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27 Diagrama de secuencia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58" name="Google Shape;158;p15"/>
          <p:cNvSpPr/>
          <p:nvPr/>
        </p:nvSpPr>
        <p:spPr>
          <a:xfrm>
            <a:off x="6025600" y="2092100"/>
            <a:ext cx="466800" cy="244500"/>
          </a:xfrm>
          <a:prstGeom prst="rect">
            <a:avLst/>
          </a:prstGeom>
          <a:solidFill>
            <a:srgbClr val="EE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59" name="Google Shape;159;p15"/>
          <p:cNvGrpSpPr/>
          <p:nvPr/>
        </p:nvGrpSpPr>
        <p:grpSpPr>
          <a:xfrm>
            <a:off x="1920250" y="2037709"/>
            <a:ext cx="4286400" cy="3680400"/>
            <a:chOff x="2428800" y="736800"/>
            <a:chExt cx="4286400" cy="3680400"/>
          </a:xfrm>
        </p:grpSpPr>
        <p:sp>
          <p:nvSpPr>
            <p:cNvPr id="160" name="Google Shape;160;p15"/>
            <p:cNvSpPr/>
            <p:nvPr/>
          </p:nvSpPr>
          <p:spPr>
            <a:xfrm>
              <a:off x="2428800" y="736800"/>
              <a:ext cx="4286400" cy="3680400"/>
            </a:xfrm>
            <a:prstGeom prst="rect">
              <a:avLst/>
            </a:prstGeom>
            <a:solidFill>
              <a:srgbClr val="EEEB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161" name="Google Shape;161;p15"/>
            <p:cNvCxnSpPr/>
            <p:nvPr/>
          </p:nvCxnSpPr>
          <p:spPr>
            <a:xfrm>
              <a:off x="2669250" y="2246744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" name="Google Shape;162;p15"/>
            <p:cNvCxnSpPr/>
            <p:nvPr/>
          </p:nvCxnSpPr>
          <p:spPr>
            <a:xfrm>
              <a:off x="2669250" y="1562531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3" name="Google Shape;163;p15"/>
            <p:cNvSpPr txBox="1"/>
            <p:nvPr/>
          </p:nvSpPr>
          <p:spPr>
            <a:xfrm>
              <a:off x="2914350" y="1713838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70 Requerimientos Funcionales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64" name="Google Shape;164;p15"/>
            <p:cNvSpPr/>
            <p:nvPr/>
          </p:nvSpPr>
          <p:spPr>
            <a:xfrm rot="10800000">
              <a:off x="2592159" y="182613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 rot="10800000">
              <a:off x="2670597" y="182623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6" name="Google Shape;166;p15"/>
            <p:cNvSpPr/>
            <p:nvPr/>
          </p:nvSpPr>
          <p:spPr>
            <a:xfrm rot="10800000">
              <a:off x="2592159" y="251028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 rot="10800000">
              <a:off x="2670597" y="251038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8" name="Google Shape;168;p15"/>
            <p:cNvSpPr txBox="1"/>
            <p:nvPr/>
          </p:nvSpPr>
          <p:spPr>
            <a:xfrm>
              <a:off x="2914350" y="102962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Total definido para el proyecto</a:t>
              </a:r>
              <a:endParaRPr b="1" sz="1600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9" name="Google Shape;169;p15"/>
            <p:cNvSpPr txBox="1"/>
            <p:nvPr/>
          </p:nvSpPr>
          <p:spPr>
            <a:xfrm>
              <a:off x="2914350" y="2398050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70 Requerimientos UR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cxnSp>
          <p:nvCxnSpPr>
            <p:cNvPr id="170" name="Google Shape;170;p15"/>
            <p:cNvCxnSpPr/>
            <p:nvPr/>
          </p:nvCxnSpPr>
          <p:spPr>
            <a:xfrm>
              <a:off x="2669250" y="3615169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15"/>
            <p:cNvCxnSpPr/>
            <p:nvPr/>
          </p:nvCxnSpPr>
          <p:spPr>
            <a:xfrm>
              <a:off x="2669250" y="2930956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2" name="Google Shape;172;p15"/>
            <p:cNvSpPr txBox="1"/>
            <p:nvPr/>
          </p:nvSpPr>
          <p:spPr>
            <a:xfrm>
              <a:off x="2914350" y="3082263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74 Casos de uso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 rot="10800000">
              <a:off x="2592159" y="319455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 rot="10800000">
              <a:off x="2670597" y="319466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75" name="Google Shape;175;p15"/>
            <p:cNvSpPr/>
            <p:nvPr/>
          </p:nvSpPr>
          <p:spPr>
            <a:xfrm rot="10800000">
              <a:off x="2592159" y="387870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76" name="Google Shape;176;p15"/>
            <p:cNvSpPr/>
            <p:nvPr/>
          </p:nvSpPr>
          <p:spPr>
            <a:xfrm rot="10800000">
              <a:off x="2670597" y="387881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77" name="Google Shape;177;p15"/>
            <p:cNvSpPr txBox="1"/>
            <p:nvPr/>
          </p:nvSpPr>
          <p:spPr>
            <a:xfrm>
              <a:off x="2914350" y="376647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74</a:t>
              </a: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Diagrama de secuencia 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78" name="Google Shape;178;p15"/>
          <p:cNvSpPr txBox="1"/>
          <p:nvPr/>
        </p:nvSpPr>
        <p:spPr>
          <a:xfrm>
            <a:off x="5039100" y="5707000"/>
            <a:ext cx="21138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rPr>
              <a:t>Avance total: 36,1%</a:t>
            </a:r>
            <a:endParaRPr b="1" sz="1600">
              <a:solidFill>
                <a:srgbClr val="783F0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/>
          <p:nvPr>
            <p:ph type="title"/>
          </p:nvPr>
        </p:nvSpPr>
        <p:spPr>
          <a:xfrm>
            <a:off x="1561400" y="339851"/>
            <a:ext cx="87705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RF37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iversidad Andrés Bello - Red Campus Sustentable" id="184" name="Google Shape;1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9450" y="1957850"/>
            <a:ext cx="9044385" cy="71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9825" y="2478500"/>
            <a:ext cx="4937250" cy="410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6"/>
          <p:cNvSpPr txBox="1"/>
          <p:nvPr/>
        </p:nvSpPr>
        <p:spPr>
          <a:xfrm>
            <a:off x="223075" y="1588113"/>
            <a:ext cx="1160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RF-37)</a:t>
            </a:r>
            <a:r>
              <a:rPr lang="es-CL" sz="1600">
                <a:solidFill>
                  <a:schemeClr val="dk1"/>
                </a:solidFill>
              </a:rPr>
              <a:t> El sistema debe registrar un nuevo caso cuando el usuario complete el formulario de crear caso, ingresando título, descripción, tipo de falta, lugar y fecha, con la posibilidad de adjuntar archivos mediante el botón "Adjuntar".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9" name="Google Shape;18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28325" y="2478500"/>
            <a:ext cx="6475675" cy="410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>
            <p:ph idx="1" type="body"/>
          </p:nvPr>
        </p:nvSpPr>
        <p:spPr>
          <a:xfrm>
            <a:off x="1920241" y="2456408"/>
            <a:ext cx="4160400" cy="8238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"/>
          <p:cNvSpPr txBox="1"/>
          <p:nvPr>
            <p:ph idx="2" type="body"/>
          </p:nvPr>
        </p:nvSpPr>
        <p:spPr>
          <a:xfrm>
            <a:off x="1920241" y="3316639"/>
            <a:ext cx="4160400" cy="27795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"/>
          <p:cNvSpPr txBox="1"/>
          <p:nvPr>
            <p:ph idx="3" type="body"/>
          </p:nvPr>
        </p:nvSpPr>
        <p:spPr>
          <a:xfrm>
            <a:off x="6530290" y="2456408"/>
            <a:ext cx="4160400" cy="8238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"/>
          <p:cNvSpPr txBox="1"/>
          <p:nvPr>
            <p:ph idx="4" type="body"/>
          </p:nvPr>
        </p:nvSpPr>
        <p:spPr>
          <a:xfrm>
            <a:off x="6530290" y="3316639"/>
            <a:ext cx="4160400" cy="27795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"/>
          <p:cNvSpPr txBox="1"/>
          <p:nvPr>
            <p:ph type="title"/>
          </p:nvPr>
        </p:nvSpPr>
        <p:spPr>
          <a:xfrm>
            <a:off x="1827200" y="274725"/>
            <a:ext cx="8770500" cy="10653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Diagrama de secuencia RF37</a:t>
            </a:r>
            <a:endParaRPr sz="4200"/>
          </a:p>
        </p:txBody>
      </p:sp>
      <p:pic>
        <p:nvPicPr>
          <p:cNvPr id="199" name="Google Shape;19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900" y="1600500"/>
            <a:ext cx="10252201" cy="497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01" name="Google Shape;20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/>
          <p:nvPr>
            <p:ph type="title"/>
          </p:nvPr>
        </p:nvSpPr>
        <p:spPr>
          <a:xfrm>
            <a:off x="1561400" y="339851"/>
            <a:ext cx="87705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RF43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iversidad Andrés Bello - Red Campus Sustentable" id="207" name="Google Shape;20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9450" y="1957850"/>
            <a:ext cx="9044385" cy="7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 txBox="1"/>
          <p:nvPr/>
        </p:nvSpPr>
        <p:spPr>
          <a:xfrm>
            <a:off x="223075" y="1588113"/>
            <a:ext cx="1160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600">
                <a:solidFill>
                  <a:schemeClr val="dk1"/>
                </a:solidFill>
              </a:rPr>
              <a:t>RF-43)</a:t>
            </a:r>
            <a:r>
              <a:rPr lang="es-CL" sz="1600">
                <a:solidFill>
                  <a:schemeClr val="dk1"/>
                </a:solidFill>
              </a:rPr>
              <a:t> El sistema debe mostrar al Administrador, Inspector, y Convivencia un listado con el historial de casos ordenado del más reciente al más antiguo.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11" name="Google Shape;21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075" y="2478488"/>
            <a:ext cx="4610726" cy="426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62600" y="2478500"/>
            <a:ext cx="6764176" cy="422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/>
          <p:nvPr>
            <p:ph idx="1" type="body"/>
          </p:nvPr>
        </p:nvSpPr>
        <p:spPr>
          <a:xfrm>
            <a:off x="1920241" y="2456408"/>
            <a:ext cx="4160400" cy="8238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 txBox="1"/>
          <p:nvPr>
            <p:ph idx="2" type="body"/>
          </p:nvPr>
        </p:nvSpPr>
        <p:spPr>
          <a:xfrm>
            <a:off x="1920241" y="3316639"/>
            <a:ext cx="4160400" cy="27795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 txBox="1"/>
          <p:nvPr>
            <p:ph idx="3" type="body"/>
          </p:nvPr>
        </p:nvSpPr>
        <p:spPr>
          <a:xfrm>
            <a:off x="6530290" y="2456408"/>
            <a:ext cx="4160400" cy="8238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"/>
          <p:cNvSpPr txBox="1"/>
          <p:nvPr>
            <p:ph idx="4" type="body"/>
          </p:nvPr>
        </p:nvSpPr>
        <p:spPr>
          <a:xfrm>
            <a:off x="6530290" y="3316639"/>
            <a:ext cx="4160400" cy="27795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 txBox="1"/>
          <p:nvPr>
            <p:ph type="title"/>
          </p:nvPr>
        </p:nvSpPr>
        <p:spPr>
          <a:xfrm>
            <a:off x="1873715" y="209595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Diagrama de secuencia RF43</a:t>
            </a:r>
            <a:endParaRPr sz="4200"/>
          </a:p>
        </p:txBody>
      </p:sp>
      <p:pic>
        <p:nvPicPr>
          <p:cNvPr id="222" name="Google Shape;2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23" name="Google Shape;22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 title="Captura de pantalla (60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200" y="1554800"/>
            <a:ext cx="9797551" cy="50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 txBox="1"/>
          <p:nvPr>
            <p:ph type="title"/>
          </p:nvPr>
        </p:nvSpPr>
        <p:spPr>
          <a:xfrm>
            <a:off x="2121490" y="536824"/>
            <a:ext cx="87705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Diagrama de Componentes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0" name="Google Shape;2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31" name="Google Shape;23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3951" y="1831925"/>
            <a:ext cx="8882674" cy="6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24950" y="1305125"/>
            <a:ext cx="7945724" cy="537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 txBox="1"/>
          <p:nvPr>
            <p:ph type="title"/>
          </p:nvPr>
        </p:nvSpPr>
        <p:spPr>
          <a:xfrm>
            <a:off x="1910408" y="399094"/>
            <a:ext cx="8770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Diagrama de Despliegue</a:t>
            </a:r>
            <a:endParaRPr sz="4200"/>
          </a:p>
        </p:txBody>
      </p:sp>
      <p:pic>
        <p:nvPicPr>
          <p:cNvPr descr="Universidad Andrés Bello - Red Campus Sustentable" id="239" name="Google Shape;2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5073" y="1"/>
            <a:ext cx="1068978" cy="9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6175" y="1844000"/>
            <a:ext cx="97463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title="Captura de pantalla (5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5053" y="1291775"/>
            <a:ext cx="5661199" cy="539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/>
          <p:nvPr>
            <p:ph type="title"/>
          </p:nvPr>
        </p:nvSpPr>
        <p:spPr>
          <a:xfrm>
            <a:off x="1985983" y="179137"/>
            <a:ext cx="76443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Modelo Físico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title="erdbd.jpg"/>
          <p:cNvPicPr preferRelativeResize="0"/>
          <p:nvPr/>
        </p:nvPicPr>
        <p:blipFill rotWithShape="1">
          <a:blip r:embed="rId5">
            <a:alphaModFix/>
          </a:blip>
          <a:srcRect b="15598" l="0" r="0" t="0"/>
          <a:stretch/>
        </p:blipFill>
        <p:spPr>
          <a:xfrm>
            <a:off x="1196225" y="1071375"/>
            <a:ext cx="9914302" cy="554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/>
          <p:nvPr/>
        </p:nvSpPr>
        <p:spPr>
          <a:xfrm>
            <a:off x="6369700" y="5007125"/>
            <a:ext cx="319800" cy="371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 txBox="1"/>
          <p:nvPr>
            <p:ph type="title"/>
          </p:nvPr>
        </p:nvSpPr>
        <p:spPr>
          <a:xfrm>
            <a:off x="1698600" y="523320"/>
            <a:ext cx="87705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Árbol de navegación</a:t>
            </a:r>
            <a:endParaRPr sz="4200"/>
          </a:p>
        </p:txBody>
      </p:sp>
      <p:pic>
        <p:nvPicPr>
          <p:cNvPr descr="Universidad Andrés Bello - Red Campus Sustentable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5073" y="1"/>
            <a:ext cx="1068978" cy="9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title="Diagrama sin título (2)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83325" y="1394350"/>
            <a:ext cx="8922576" cy="523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/>
          <p:nvPr/>
        </p:nvSpPr>
        <p:spPr>
          <a:xfrm>
            <a:off x="4816825" y="4593875"/>
            <a:ext cx="185100" cy="333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1" name="Google Shape;261;p23"/>
          <p:cNvSpPr/>
          <p:nvPr/>
        </p:nvSpPr>
        <p:spPr>
          <a:xfrm rot="2301321">
            <a:off x="7066730" y="4667322"/>
            <a:ext cx="185162" cy="3329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4754425" y="4335025"/>
            <a:ext cx="3900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RF37</a:t>
            </a:r>
            <a:endParaRPr sz="600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7167150" y="4497300"/>
            <a:ext cx="3900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RF43</a:t>
            </a:r>
            <a:endParaRPr sz="600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>
            <p:ph type="title"/>
          </p:nvPr>
        </p:nvSpPr>
        <p:spPr>
          <a:xfrm>
            <a:off x="1920250" y="538075"/>
            <a:ext cx="6780300" cy="7134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Vista </a:t>
            </a:r>
            <a:r>
              <a:rPr lang="es-CL" sz="4200"/>
              <a:t>Registrar un Usuario</a:t>
            </a:r>
            <a:endParaRPr sz="4200"/>
          </a:p>
        </p:txBody>
      </p:sp>
      <p:sp>
        <p:nvSpPr>
          <p:cNvPr id="269" name="Google Shape;269;p24"/>
          <p:cNvSpPr txBox="1"/>
          <p:nvPr>
            <p:ph idx="1" type="body"/>
          </p:nvPr>
        </p:nvSpPr>
        <p:spPr>
          <a:xfrm>
            <a:off x="1920240" y="2312276"/>
            <a:ext cx="8770500" cy="3651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387" y="1613575"/>
            <a:ext cx="10562225" cy="48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72" name="Google Shape;27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 txBox="1"/>
          <p:nvPr>
            <p:ph type="title"/>
          </p:nvPr>
        </p:nvSpPr>
        <p:spPr>
          <a:xfrm>
            <a:off x="1070100" y="218925"/>
            <a:ext cx="8770500" cy="1000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  </a:t>
            </a:r>
            <a:r>
              <a:rPr lang="es-CL" sz="4200"/>
              <a:t>Vista Prueba de registrar caso</a:t>
            </a:r>
            <a:endParaRPr sz="4200"/>
          </a:p>
        </p:txBody>
      </p:sp>
      <p:pic>
        <p:nvPicPr>
          <p:cNvPr id="278" name="Google Shape;2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100" y="1592025"/>
            <a:ext cx="9845000" cy="490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80" name="Google Shape;28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"/>
          <p:cNvSpPr txBox="1"/>
          <p:nvPr>
            <p:ph type="title"/>
          </p:nvPr>
        </p:nvSpPr>
        <p:spPr>
          <a:xfrm>
            <a:off x="1136225" y="249376"/>
            <a:ext cx="8770500" cy="9045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Selección</a:t>
            </a:r>
            <a:r>
              <a:rPr lang="es-CL" sz="4200"/>
              <a:t> historial casos</a:t>
            </a:r>
            <a:endParaRPr sz="4200"/>
          </a:p>
        </p:txBody>
      </p:sp>
      <p:pic>
        <p:nvPicPr>
          <p:cNvPr id="286" name="Google Shape;28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226" y="1380350"/>
            <a:ext cx="10465549" cy="477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88" name="Google Shape;28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7"/>
          <p:cNvSpPr txBox="1"/>
          <p:nvPr>
            <p:ph type="title"/>
          </p:nvPr>
        </p:nvSpPr>
        <p:spPr>
          <a:xfrm>
            <a:off x="1173650" y="277297"/>
            <a:ext cx="8770500" cy="637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CL" sz="4200"/>
              <a:t>Resultado</a:t>
            </a:r>
            <a:endParaRPr sz="4200"/>
          </a:p>
        </p:txBody>
      </p:sp>
      <p:pic>
        <p:nvPicPr>
          <p:cNvPr id="294" name="Google Shape;29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650" y="1235950"/>
            <a:ext cx="10195651" cy="4989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96" name="Google Shape;29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0" name="Google Shape;310;p28"/>
          <p:cNvSpPr txBox="1"/>
          <p:nvPr>
            <p:ph type="title"/>
          </p:nvPr>
        </p:nvSpPr>
        <p:spPr>
          <a:xfrm>
            <a:off x="116100" y="2613762"/>
            <a:ext cx="6779700" cy="16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900"/>
              <a:buFont typeface="Times New Roman"/>
              <a:buNone/>
            </a:pPr>
            <a:r>
              <a:rPr lang="es-CL" sz="4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continuación una demostración</a:t>
            </a:r>
            <a:endParaRPr sz="4200"/>
          </a:p>
        </p:txBody>
      </p:sp>
      <p:sp>
        <p:nvSpPr>
          <p:cNvPr id="311" name="Google Shape;311;p28"/>
          <p:cNvSpPr/>
          <p:nvPr/>
        </p:nvSpPr>
        <p:spPr>
          <a:xfrm flipH="1">
            <a:off x="6986049" y="0"/>
            <a:ext cx="5205951" cy="6858000"/>
          </a:xfrm>
          <a:custGeom>
            <a:rect b="b" l="l" r="r" t="t"/>
            <a:pathLst>
              <a:path extrusionOk="0" h="6858000" w="5205951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2" name="Google Shape;312;p28"/>
          <p:cNvSpPr/>
          <p:nvPr/>
        </p:nvSpPr>
        <p:spPr>
          <a:xfrm flipH="1">
            <a:off x="6553480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3" name="Google Shape;313;p28"/>
          <p:cNvSpPr/>
          <p:nvPr/>
        </p:nvSpPr>
        <p:spPr>
          <a:xfrm flipH="1">
            <a:off x="6758825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14" name="Google Shape;31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5050" y="1966963"/>
            <a:ext cx="2924075" cy="29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315" name="Google Shape;31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ketchLinesVTI">
  <a:themeElements>
    <a:clrScheme name="SketchLines">
      <a:dk1>
        <a:srgbClr val="000000"/>
      </a:dk1>
      <a:lt1>
        <a:srgbClr val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