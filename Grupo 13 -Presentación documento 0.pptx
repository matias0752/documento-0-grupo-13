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biJhnLcgeUVVLFFfGOPvHFRC8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" name="Google Shape;14;p16"/>
          <p:cNvSpPr txBox="1"/>
          <p:nvPr>
            <p:ph type="ctrTitle"/>
          </p:nvPr>
        </p:nvSpPr>
        <p:spPr>
          <a:xfrm>
            <a:off x="4654295" y="1346268"/>
            <a:ext cx="7060135" cy="32852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Meiryo"/>
              <a:buNone/>
              <a:defRPr sz="54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subTitle"/>
          </p:nvPr>
        </p:nvSpPr>
        <p:spPr>
          <a:xfrm>
            <a:off x="4662312" y="4631475"/>
            <a:ext cx="7052117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</a:defRPr>
            </a:lvl1pPr>
            <a:lvl2pPr lvl="1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654295" y="617415"/>
            <a:ext cx="71237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4654295" y="6170490"/>
            <a:ext cx="55883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10515600" y="6170490"/>
            <a:ext cx="11988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9" name="Google Shape;19;p16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" name="Google Shape;20;p16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" name="Google Shape;21;p16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18"/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30" name="Google Shape;30;p18"/>
            <p:cNvSpPr/>
            <p:nvPr/>
          </p:nvSpPr>
          <p:spPr>
            <a:xfrm>
              <a:off x="3320637" y="0"/>
              <a:ext cx="4013331" cy="2742133"/>
            </a:xfrm>
            <a:custGeom>
              <a:rect b="b" l="l" r="r" t="t"/>
              <a:pathLst>
                <a:path extrusionOk="0" h="2742133" w="4013331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1" name="Google Shape;31;p18"/>
            <p:cNvSpPr/>
            <p:nvPr/>
          </p:nvSpPr>
          <p:spPr>
            <a:xfrm>
              <a:off x="3566319" y="0"/>
              <a:ext cx="3401415" cy="2440484"/>
            </a:xfrm>
            <a:custGeom>
              <a:rect b="b" l="l" r="r" t="t"/>
              <a:pathLst>
                <a:path extrusionOk="0" h="2440484" w="3401415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3232490" y="0"/>
              <a:ext cx="4164597" cy="2817185"/>
            </a:xfrm>
            <a:custGeom>
              <a:rect b="b" l="l" r="r" t="t"/>
              <a:pathLst>
                <a:path extrusionOk="0" h="2806419" w="4130517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3" name="Google Shape;33;p18"/>
            <p:cNvSpPr/>
            <p:nvPr/>
          </p:nvSpPr>
          <p:spPr>
            <a:xfrm>
              <a:off x="3124577" y="0"/>
              <a:ext cx="4389519" cy="2916937"/>
            </a:xfrm>
            <a:custGeom>
              <a:rect b="b" l="l" r="r" t="t"/>
              <a:pathLst>
                <a:path extrusionOk="0" h="2916937" w="4389519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4" name="Google Shape;34;p18"/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35" name="Google Shape;35;p18"/>
            <p:cNvSpPr/>
            <p:nvPr/>
          </p:nvSpPr>
          <p:spPr>
            <a:xfrm>
              <a:off x="8122942" y="0"/>
              <a:ext cx="4069058" cy="3547008"/>
            </a:xfrm>
            <a:custGeom>
              <a:rect b="b" l="l" r="r" t="t"/>
              <a:pathLst>
                <a:path extrusionOk="0" h="3547008" w="406905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6" name="Google Shape;36;p18"/>
            <p:cNvSpPr/>
            <p:nvPr/>
          </p:nvSpPr>
          <p:spPr>
            <a:xfrm flipH="1">
              <a:off x="8319994" y="0"/>
              <a:ext cx="3872006" cy="3321595"/>
            </a:xfrm>
            <a:custGeom>
              <a:rect b="b" l="l" r="r" t="t"/>
              <a:pathLst>
                <a:path extrusionOk="0" h="3321595" w="3872006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7" name="Google Shape;37;p18"/>
            <p:cNvSpPr/>
            <p:nvPr/>
          </p:nvSpPr>
          <p:spPr>
            <a:xfrm flipH="1">
              <a:off x="8729240" y="9274"/>
              <a:ext cx="3462454" cy="3010961"/>
            </a:xfrm>
            <a:custGeom>
              <a:rect b="b" l="l" r="r" t="t"/>
              <a:pathLst>
                <a:path extrusionOk="0" h="3010961" w="3462454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" name="Google Shape;38;p18"/>
            <p:cNvSpPr/>
            <p:nvPr/>
          </p:nvSpPr>
          <p:spPr>
            <a:xfrm flipH="1">
              <a:off x="8243247" y="9274"/>
              <a:ext cx="3948447" cy="3411460"/>
            </a:xfrm>
            <a:custGeom>
              <a:rect b="b" l="l" r="r" t="t"/>
              <a:pathLst>
                <a:path extrusionOk="0" h="3411460" w="3904481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9" name="Google Shape;39;p18"/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40" name="Google Shape;40;p18"/>
            <p:cNvSpPr/>
            <p:nvPr/>
          </p:nvSpPr>
          <p:spPr>
            <a:xfrm>
              <a:off x="0" y="1676545"/>
              <a:ext cx="4174269" cy="5181455"/>
            </a:xfrm>
            <a:custGeom>
              <a:rect b="b" l="l" r="r" t="t"/>
              <a:pathLst>
                <a:path extrusionOk="0" h="5181455" w="4174269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" name="Google Shape;41;p18"/>
            <p:cNvSpPr/>
            <p:nvPr/>
          </p:nvSpPr>
          <p:spPr>
            <a:xfrm>
              <a:off x="0" y="1347287"/>
              <a:ext cx="4259808" cy="5510713"/>
            </a:xfrm>
            <a:custGeom>
              <a:rect b="b" l="l" r="r" t="t"/>
              <a:pathLst>
                <a:path extrusionOk="0" h="5510713" w="4259808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" name="Google Shape;42;p18"/>
            <p:cNvSpPr/>
            <p:nvPr/>
          </p:nvSpPr>
          <p:spPr>
            <a:xfrm>
              <a:off x="0" y="1592806"/>
              <a:ext cx="4029221" cy="5265194"/>
            </a:xfrm>
            <a:custGeom>
              <a:rect b="b" l="l" r="r" t="t"/>
              <a:pathLst>
                <a:path extrusionOk="0" h="5265194" w="4029221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3" name="Google Shape;43;p18"/>
            <p:cNvSpPr/>
            <p:nvPr/>
          </p:nvSpPr>
          <p:spPr>
            <a:xfrm>
              <a:off x="0" y="2147333"/>
              <a:ext cx="3702048" cy="4710667"/>
            </a:xfrm>
            <a:custGeom>
              <a:rect b="b" l="l" r="r" t="t"/>
              <a:pathLst>
                <a:path extrusionOk="0" h="4710667" w="3702048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44" name="Google Shape;44;p18"/>
          <p:cNvSpPr txBox="1"/>
          <p:nvPr>
            <p:ph type="title"/>
          </p:nvPr>
        </p:nvSpPr>
        <p:spPr>
          <a:xfrm>
            <a:off x="4654296" y="3420734"/>
            <a:ext cx="6665976" cy="21296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  <a:defRPr sz="4800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1" type="ftr"/>
          </p:nvPr>
        </p:nvSpPr>
        <p:spPr>
          <a:xfrm>
            <a:off x="4654296" y="6170490"/>
            <a:ext cx="57133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4654295" y="5550408"/>
            <a:ext cx="666597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>
            <a:off x="640080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" type="body"/>
          </p:nvPr>
        </p:nvSpPr>
        <p:spPr>
          <a:xfrm>
            <a:off x="192024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2" type="body"/>
          </p:nvPr>
        </p:nvSpPr>
        <p:spPr>
          <a:xfrm>
            <a:off x="653029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idx="1" type="body"/>
          </p:nvPr>
        </p:nvSpPr>
        <p:spPr>
          <a:xfrm>
            <a:off x="192024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20"/>
          <p:cNvSpPr txBox="1"/>
          <p:nvPr>
            <p:ph idx="2" type="body"/>
          </p:nvPr>
        </p:nvSpPr>
        <p:spPr>
          <a:xfrm>
            <a:off x="192024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3" type="body"/>
          </p:nvPr>
        </p:nvSpPr>
        <p:spPr>
          <a:xfrm>
            <a:off x="6530290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20"/>
          <p:cNvSpPr txBox="1"/>
          <p:nvPr>
            <p:ph idx="4" type="body"/>
          </p:nvPr>
        </p:nvSpPr>
        <p:spPr>
          <a:xfrm>
            <a:off x="6530290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64" name="Google Shape;64;p20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>
            <a:off x="8476488" y="640080"/>
            <a:ext cx="3227715" cy="25517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>
            <a:off x="1280160" y="640080"/>
            <a:ext cx="6949440" cy="54559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Char char="–"/>
              <a:defRPr sz="1600"/>
            </a:lvl3pPr>
            <a:lvl4pPr indent="-3175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5pPr>
            <a:lvl6pPr indent="-3175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6pPr>
            <a:lvl7pPr indent="-3175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7pPr>
            <a:lvl8pPr indent="-3175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8pPr>
            <a:lvl9pPr indent="-3175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9pPr>
          </a:lstStyle>
          <a:p/>
        </p:txBody>
      </p:sp>
      <p:sp>
        <p:nvSpPr>
          <p:cNvPr id="77" name="Google Shape;77;p23"/>
          <p:cNvSpPr txBox="1"/>
          <p:nvPr>
            <p:ph idx="2" type="body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3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>
            <a:off x="1280160" y="617049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/>
          <p:nvPr>
            <p:ph idx="2" type="pic"/>
          </p:nvPr>
        </p:nvSpPr>
        <p:spPr>
          <a:xfrm>
            <a:off x="0" y="0"/>
            <a:ext cx="8102651" cy="6857999"/>
          </a:xfrm>
          <a:prstGeom prst="rect">
            <a:avLst/>
          </a:prstGeom>
          <a:solidFill>
            <a:srgbClr val="DCD6C4"/>
          </a:solidFill>
          <a:ln>
            <a:noFill/>
          </a:ln>
        </p:spPr>
      </p:sp>
      <p:sp>
        <p:nvSpPr>
          <p:cNvPr id="83" name="Google Shape;83;p24"/>
          <p:cNvSpPr txBox="1"/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" type="body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24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1" type="ftr"/>
          </p:nvPr>
        </p:nvSpPr>
        <p:spPr>
          <a:xfrm>
            <a:off x="1280160" y="6170490"/>
            <a:ext cx="64644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" type="body"/>
          </p:nvPr>
        </p:nvSpPr>
        <p:spPr>
          <a:xfrm rot="5400000">
            <a:off x="4479774" y="-247258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/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" type="body"/>
          </p:nvPr>
        </p:nvSpPr>
        <p:spPr>
          <a:xfrm rot="5400000">
            <a:off x="3252190" y="205883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0" type="dt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1" type="ftr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2" type="sldNum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00" name="Google Shape;100;p26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b="1" i="0" sz="32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b="0" i="0" sz="18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b="0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17500" lvl="2" marL="13716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-317500" lvl="6" marL="3200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-317500" lvl="7" marL="3657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-317500" lvl="8" marL="4114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1" name="Google Shape;11;p15" title="Rule Line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jp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06" name="Google Shape;106;p1" title="1250635470-ssebastian-3854.jpg"/>
          <p:cNvPicPr preferRelativeResize="0"/>
          <p:nvPr/>
        </p:nvPicPr>
        <p:blipFill rotWithShape="1">
          <a:blip r:embed="rId4">
            <a:alphaModFix/>
          </a:blip>
          <a:srcRect b="0" l="12659" r="12659" t="0"/>
          <a:stretch/>
        </p:blipFill>
        <p:spPr>
          <a:xfrm>
            <a:off x="4487333" y="10"/>
            <a:ext cx="7704667" cy="6877878"/>
          </a:xfrm>
          <a:custGeom>
            <a:rect b="b" l="l" r="r" t="t"/>
            <a:pathLst>
              <a:path extrusionOk="0" h="6877878" w="7704667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7" name="Google Shape;107;p1"/>
          <p:cNvSpPr/>
          <p:nvPr/>
        </p:nvSpPr>
        <p:spPr>
          <a:xfrm>
            <a:off x="0" y="0"/>
            <a:ext cx="7475746" cy="6858000"/>
          </a:xfrm>
          <a:custGeom>
            <a:rect b="b" l="l" r="r" t="t"/>
            <a:pathLst>
              <a:path extrusionOk="0" h="6858000" w="7475746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153" y="0"/>
            <a:ext cx="7283242" cy="6858000"/>
          </a:xfrm>
          <a:custGeom>
            <a:rect b="b" l="l" r="r" t="t"/>
            <a:pathLst>
              <a:path extrusionOk="0" h="6858000" w="7163694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5198368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177800" y="636804"/>
            <a:ext cx="51753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PROYECTO DE INGENIERÍA DE SOFTWARE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SISTEMA DE REGISTRO Y ALMACENAMIENTO DE DATOS DE CONVIVENCIA ESCOLAR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429442" y="2913358"/>
            <a:ext cx="4162357" cy="35423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 fontScale="25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6667"/>
              <a:buNone/>
            </a:pPr>
            <a:r>
              <a:rPr i="0" lang="es-CL" sz="37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Integrantes: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333"/>
              <a:buFont typeface="Arial"/>
              <a:buNone/>
            </a:pPr>
            <a:r>
              <a:rPr lang="es-CL" sz="3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Osvaldo Octavio Caraccioli Cisterna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333"/>
              <a:buFont typeface="Arial"/>
              <a:buNone/>
            </a:pPr>
            <a:r>
              <a:rPr lang="es-CL" sz="3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Benjamín Alejandro Orellana Romero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333"/>
              <a:buFont typeface="Arial"/>
              <a:buNone/>
            </a:pPr>
            <a:r>
              <a:rPr lang="es-CL" sz="3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Maximiliano Thomas Soto Garrido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333"/>
              <a:buFont typeface="Arial"/>
              <a:buNone/>
            </a:pPr>
            <a:r>
              <a:rPr lang="es-CL" sz="3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Rodrigo Bastián Flores Peralta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333"/>
              <a:buFont typeface="Arial"/>
              <a:buNone/>
            </a:pPr>
            <a:r>
              <a:rPr lang="es-CL" sz="3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Matías Ignacio Urria Ibarra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333"/>
              <a:buFont typeface="Arial"/>
              <a:buNone/>
            </a:pPr>
            <a:r>
              <a:rPr lang="es-CL" sz="3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Isaías Abel Ortiz Castro 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333"/>
              <a:buFont typeface="Arial"/>
              <a:buNone/>
            </a:pPr>
            <a:r>
              <a:rPr lang="es-CL" sz="3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Vicente Ignacio Vera Pereira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5333"/>
              <a:buNone/>
            </a:pPr>
            <a:r>
              <a:t/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6667"/>
              <a:buNone/>
            </a:pPr>
            <a:r>
              <a:rPr i="0" lang="es-CL" sz="37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Profesor: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5333"/>
              <a:buNone/>
            </a:pPr>
            <a:r>
              <a:rPr i="0" lang="es-CL" sz="37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Paulo Luis Francisco Quinsacara Jofré</a:t>
            </a:r>
            <a:endParaRPr sz="3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br>
              <a:rPr lang="es-CL"/>
            </a:br>
            <a:endParaRPr/>
          </a:p>
        </p:txBody>
      </p:sp>
      <p:pic>
        <p:nvPicPr>
          <p:cNvPr id="112" name="Google Shape;112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3100" y="2537275"/>
            <a:ext cx="1803325" cy="18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6">
            <a:alphaModFix/>
          </a:blip>
          <a:srcRect b="14733" l="13642" r="7138" t="22414"/>
          <a:stretch/>
        </p:blipFill>
        <p:spPr>
          <a:xfrm>
            <a:off x="9652000" y="111500"/>
            <a:ext cx="2529725" cy="10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7" name="Google Shape;127;p2"/>
          <p:cNvSpPr txBox="1"/>
          <p:nvPr>
            <p:ph type="title"/>
          </p:nvPr>
        </p:nvSpPr>
        <p:spPr>
          <a:xfrm>
            <a:off x="6090045" y="1346200"/>
            <a:ext cx="5624118" cy="32845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Times New Roman"/>
              <a:buNone/>
            </a:pPr>
            <a:r>
              <a:rPr lang="es-CL" sz="4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587555" y="993913"/>
            <a:ext cx="5224848" cy="4884295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83293" y="1074738"/>
            <a:ext cx="4906732" cy="467981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77837" y="850790"/>
            <a:ext cx="5407926" cy="513654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descr="Universidad Andrés Bello - Red Campus Sustentable" id="131" name="Google Shape;1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3500" y="1849600"/>
            <a:ext cx="2536425" cy="25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8" name="Google Shape;138;p3"/>
          <p:cNvSpPr/>
          <p:nvPr/>
        </p:nvSpPr>
        <p:spPr>
          <a:xfrm flipH="1">
            <a:off x="6986049" y="0"/>
            <a:ext cx="5205951" cy="6858000"/>
          </a:xfrm>
          <a:custGeom>
            <a:rect b="b" l="l" r="r" t="t"/>
            <a:pathLst>
              <a:path extrusionOk="0" h="6858000" w="5205951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211834" y="0"/>
            <a:ext cx="4980168" cy="6858000"/>
          </a:xfrm>
          <a:custGeom>
            <a:rect b="b" l="l" r="r" t="t"/>
            <a:pathLst>
              <a:path extrusionOk="0" h="6858000" w="4901771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0" name="Google Shape;140;p3"/>
          <p:cNvSpPr/>
          <p:nvPr/>
        </p:nvSpPr>
        <p:spPr>
          <a:xfrm flipH="1">
            <a:off x="6697013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1" name="Google Shape;141;p3"/>
          <p:cNvSpPr txBox="1"/>
          <p:nvPr>
            <p:ph type="title"/>
          </p:nvPr>
        </p:nvSpPr>
        <p:spPr>
          <a:xfrm>
            <a:off x="8009545" y="2456809"/>
            <a:ext cx="36894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rPr b="0" lang="es-CL">
                <a:latin typeface="Times New Roman"/>
                <a:ea typeface="Times New Roman"/>
                <a:cs typeface="Times New Roman"/>
                <a:sym typeface="Times New Roman"/>
              </a:rPr>
              <a:t>Diagrama de Ishikawa</a:t>
            </a:r>
            <a:br>
              <a:rPr lang="es-CL"/>
            </a:br>
            <a:endParaRPr/>
          </a:p>
        </p:txBody>
      </p:sp>
      <p:pic>
        <p:nvPicPr>
          <p:cNvPr descr="Universidad Andrés Bello - Red Campus Sustentable" id="142" name="Google Shape;1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45600"/>
            <a:ext cx="6697024" cy="501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2101215" y="649224"/>
            <a:ext cx="8770571" cy="76831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s-CL" sz="2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 Interno Externo de la Organización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50" name="Google Shape;1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8600" y="1546325"/>
            <a:ext cx="6358675" cy="47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type="title"/>
          </p:nvPr>
        </p:nvSpPr>
        <p:spPr>
          <a:xfrm>
            <a:off x="2273822" y="1055715"/>
            <a:ext cx="7644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Levantamiento de procesos inicial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500" y="2122450"/>
            <a:ext cx="11168999" cy="36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4" name="Google Shape;174;p6"/>
          <p:cNvSpPr txBox="1"/>
          <p:nvPr>
            <p:ph type="title"/>
          </p:nvPr>
        </p:nvSpPr>
        <p:spPr>
          <a:xfrm>
            <a:off x="100227" y="2156497"/>
            <a:ext cx="6779569" cy="23722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Times New Roman"/>
              <a:buNone/>
            </a:pPr>
            <a:r>
              <a:rPr lang="es-CL" sz="4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 </a:t>
            </a:r>
            <a:r>
              <a:rPr lang="es-CL" sz="4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funcionales y no funcionales</a:t>
            </a:r>
            <a:endParaRPr sz="4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6"/>
          <p:cNvSpPr/>
          <p:nvPr/>
        </p:nvSpPr>
        <p:spPr>
          <a:xfrm flipH="1">
            <a:off x="6986049" y="0"/>
            <a:ext cx="5205951" cy="6858000"/>
          </a:xfrm>
          <a:custGeom>
            <a:rect b="b" l="l" r="r" t="t"/>
            <a:pathLst>
              <a:path extrusionOk="0" h="6858000" w="5205951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6" name="Google Shape;176;p6"/>
          <p:cNvSpPr/>
          <p:nvPr/>
        </p:nvSpPr>
        <p:spPr>
          <a:xfrm flipH="1">
            <a:off x="6553480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7" name="Google Shape;177;p6"/>
          <p:cNvSpPr/>
          <p:nvPr/>
        </p:nvSpPr>
        <p:spPr>
          <a:xfrm flipH="1">
            <a:off x="6758825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descr="Universidad Andrés Bello - Red Campus Sustentable"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5050" y="1966963"/>
            <a:ext cx="2924075" cy="29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3688625" y="790900"/>
            <a:ext cx="52338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s-CL"/>
              <a:t>Requerimiento funcionales</a:t>
            </a:r>
            <a:endParaRPr/>
          </a:p>
        </p:txBody>
      </p:sp>
      <p:pic>
        <p:nvPicPr>
          <p:cNvPr descr="Universidad Andrés Bello - Red Campus Sustentable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4900" y="2868975"/>
            <a:ext cx="75438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04900" y="4253475"/>
            <a:ext cx="730567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type="title"/>
          </p:nvPr>
        </p:nvSpPr>
        <p:spPr>
          <a:xfrm>
            <a:off x="3520325" y="674625"/>
            <a:ext cx="55704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s-CL"/>
              <a:t>Requerimientos no funcionales</a:t>
            </a:r>
            <a:endParaRPr/>
          </a:p>
        </p:txBody>
      </p:sp>
      <p:sp>
        <p:nvSpPr>
          <p:cNvPr id="194" name="Google Shape;194;p8"/>
          <p:cNvSpPr txBox="1"/>
          <p:nvPr>
            <p:ph idx="1" type="body"/>
          </p:nvPr>
        </p:nvSpPr>
        <p:spPr>
          <a:xfrm>
            <a:off x="1961890" y="2301851"/>
            <a:ext cx="8770500" cy="3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Universidad Andrés Bello - Red Campus Sustentable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3413" y="2577400"/>
            <a:ext cx="9687476" cy="9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7462" y="4273675"/>
            <a:ext cx="9687475" cy="97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>
            <p:ph type="title"/>
          </p:nvPr>
        </p:nvSpPr>
        <p:spPr>
          <a:xfrm>
            <a:off x="1920250" y="556220"/>
            <a:ext cx="87705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s-CL"/>
              <a:t>Caso de uso</a:t>
            </a:r>
            <a:endParaRPr/>
          </a:p>
        </p:txBody>
      </p:sp>
      <p:pic>
        <p:nvPicPr>
          <p:cNvPr descr="Universidad Andrés Bello - Red Campus Sustentable" id="204" name="Google Shape;2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2525" y="2362300"/>
            <a:ext cx="4685950" cy="42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2" name="Google Shape;212;p10"/>
          <p:cNvSpPr txBox="1"/>
          <p:nvPr>
            <p:ph type="title"/>
          </p:nvPr>
        </p:nvSpPr>
        <p:spPr>
          <a:xfrm>
            <a:off x="1920875" y="3539152"/>
            <a:ext cx="8769350" cy="8738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s-CL"/>
              <a:t>Objetivo General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4217831" y="502276"/>
            <a:ext cx="3607800" cy="2957084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124077" y="421418"/>
            <a:ext cx="3943847" cy="3117733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960566" y="341627"/>
            <a:ext cx="4205424" cy="3304046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6" name="Google Shape;216;p10"/>
          <p:cNvSpPr txBox="1"/>
          <p:nvPr>
            <p:ph idx="1" type="body"/>
          </p:nvPr>
        </p:nvSpPr>
        <p:spPr>
          <a:xfrm>
            <a:off x="1920874" y="4412974"/>
            <a:ext cx="8932863" cy="167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un sistema de gestión de convivencia para el departamento de convivencia escolar dentro del Colegio Particular San Sebastian de Melipilla.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versidad Andrés Bello - Red Campus Sustentable"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2863" y="1056725"/>
            <a:ext cx="1677725" cy="167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4" name="Google Shape;224;p11"/>
          <p:cNvSpPr txBox="1"/>
          <p:nvPr>
            <p:ph type="title"/>
          </p:nvPr>
        </p:nvSpPr>
        <p:spPr>
          <a:xfrm>
            <a:off x="1711500" y="3297527"/>
            <a:ext cx="87693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s-CL"/>
              <a:t>Objetivos Específicos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4217831" y="502276"/>
            <a:ext cx="3607800" cy="2957084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124077" y="421418"/>
            <a:ext cx="3943847" cy="3117733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3960566" y="341627"/>
            <a:ext cx="4205424" cy="3304046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8" name="Google Shape;228;p11"/>
          <p:cNvSpPr txBox="1"/>
          <p:nvPr>
            <p:ph idx="1" type="body"/>
          </p:nvPr>
        </p:nvSpPr>
        <p:spPr>
          <a:xfrm>
            <a:off x="305200" y="4492850"/>
            <a:ext cx="5538000" cy="19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rPr lang="es-CL" sz="325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1-Generar un análisis interno externo de la organización para el análisis de decisiones estratégicas.</a:t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t/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rPr lang="es-CL" sz="325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2-Analizar el problema que presenta el departamento de convivencia escolar junto con el usuario para proponer una solución que cubra las necesidades presentadas.</a:t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t/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rPr lang="es-CL" sz="325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3-Definir las falencias actuales que presenta el departamento de convivencia escolar para priorizar las funciones del sistema.</a:t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t/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rPr lang="es-CL" sz="325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4-Generar un levantamiento de procesos inicial para establecer el funcionamiento de la organización.</a:t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t/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rPr lang="es-CL" sz="325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5-Definir y documentar los requerimientos funcionales y no funcionales del sistema, asegurando que cumplan con las necesidades del departamento de convivencia escolar.</a:t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t/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66"/>
              <a:buFont typeface="Arial"/>
              <a:buNone/>
            </a:pPr>
            <a:r>
              <a:rPr lang="es-CL" sz="325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6-Presentar la propuesta de requerimientos funcionales y no funcionales al departamento de convivencia escolar para que sean validados.</a:t>
            </a:r>
            <a:endParaRPr sz="325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73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40000"/>
              </a:lnSpc>
              <a:spcBef>
                <a:spcPts val="173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Universidad Andrés Bello - Red Campus Sustentable" id="229" name="Google Shape;2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300" y="843925"/>
            <a:ext cx="1978500" cy="19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1"/>
          <p:cNvSpPr txBox="1"/>
          <p:nvPr>
            <p:ph idx="1" type="body"/>
          </p:nvPr>
        </p:nvSpPr>
        <p:spPr>
          <a:xfrm>
            <a:off x="6363100" y="4413050"/>
            <a:ext cx="55380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7-Elaborar un flujo de caja detallado para determinar la viabilidad financiera y el impacto del proyecto dentro del colegio.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8-Establecer las bases técnicas del proyecto, seleccionando el lenguaje de programación y motor de base de datos.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9-Desarrollar el sistema de gestión escolar, siguiendo los requisitos validados por el usuario y las bases técnicas establecidas.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10-Ejecutar pruebas de funcionamiento en el establecimiento educacional, para detectar posibles errores y asegurar la usabilidad del sistema.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11-Solucionar los errores que presente el sistema durante el periodo de prueba para asegurar un correcto funcionamiento en un futuro.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12-Realizar jornadas de instrucción y demostración del sistema a miembros del departamento de convivencia escolar y equipos de inspectores para garantizar un correcto uso.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730"/>
              </a:spcBef>
              <a:spcAft>
                <a:spcPts val="0"/>
              </a:spcAft>
              <a:buClr>
                <a:srgbClr val="3F3F3F"/>
              </a:buClr>
              <a:buSzPts val="1900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40000"/>
              </a:lnSpc>
              <a:spcBef>
                <a:spcPts val="17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dad Andrés Bello - Red Campus Sustentable" id="236" name="Google Shape;2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 txBox="1"/>
          <p:nvPr>
            <p:ph type="title"/>
          </p:nvPr>
        </p:nvSpPr>
        <p:spPr>
          <a:xfrm>
            <a:off x="4629598" y="740093"/>
            <a:ext cx="2932804" cy="69935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eiryo"/>
              <a:buNone/>
            </a:pPr>
            <a:r>
              <a:rPr lang="es-CL"/>
              <a:t>Planificación</a:t>
            </a:r>
            <a:endParaRPr/>
          </a:p>
        </p:txBody>
      </p:sp>
      <p:pic>
        <p:nvPicPr>
          <p:cNvPr id="239" name="Google Shape;23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4588" y="2132425"/>
            <a:ext cx="1035367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/>
          <p:nvPr>
            <p:ph type="title"/>
          </p:nvPr>
        </p:nvSpPr>
        <p:spPr>
          <a:xfrm>
            <a:off x="1920240" y="442220"/>
            <a:ext cx="8754177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s-CL"/>
              <a:t>FLUJO DE CAJA</a:t>
            </a:r>
            <a:endParaRPr/>
          </a:p>
        </p:txBody>
      </p:sp>
      <p:pic>
        <p:nvPicPr>
          <p:cNvPr id="246" name="Google Shape;2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50" y="2255875"/>
            <a:ext cx="11469499" cy="3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2630839" y="370224"/>
            <a:ext cx="7203799" cy="6030364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2343467" y="143123"/>
            <a:ext cx="7778543" cy="6484567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2504539" y="266074"/>
            <a:ext cx="7489662" cy="6252180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descr="Universidad Andrés Bello - Red Campus Sustentable" id="255" name="Google Shape;2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9013" y="32480"/>
            <a:ext cx="1464545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738" y="1818725"/>
            <a:ext cx="2840000" cy="28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etchLinesVTI">
  <a:themeElements>
    <a:clrScheme name="SketchLines">
      <a:dk1>
        <a:srgbClr val="000000"/>
      </a:dk1>
      <a:lt1>
        <a:srgbClr val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2025-04-26T23:21:59Z</dcterms:created>
  <dc:creator>Addan saez</dc:creator>
</cp:coreProperties>
</file>